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my-travel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2026 · Business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6459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BUSINESS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10312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2A37"/>
                </a:solidFill>
                <a:latin typeface="Pretendard"/>
              </a:rPr>
              <a:t>서울을 넘어,</a:t>
            </a:r>
          </a:p>
          <a:p>
            <a:pPr algn="l"/>
            <a:r>
              <a:rPr sz="3600" b="1">
                <a:solidFill>
                  <a:srgbClr val="1F2A37"/>
                </a:solidFill>
                <a:latin typeface="Pretendard"/>
              </a:rPr>
              <a:t>한국의 모든 지역을 잇다.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3840480"/>
            <a:ext cx="548640" cy="3810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402336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Pretendard"/>
              </a:rPr>
              <a:t>내국인과 방한 외국인을 동시에 연결하는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Pretendard"/>
              </a:rPr>
              <a:t>다국어 지역 관광 상품 예약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852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Pretendard"/>
              </a:rPr>
              <a:t>Domestic + Inbound · Multi-language · K-Local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538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한 줄 요약과 핵심 가치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110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문제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385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왜 지금, 왜 우리인가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682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시장 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957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방한 관광 시장과 지역 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8254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솔루션 개요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529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플랫폼이 제공하는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826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타깃 사용자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3101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4-Sided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7398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비즈니스 모델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7673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수익 구조와 단가 가정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1970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제품 아키텍처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2245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Laravel + Vue + Multi-locale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17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6542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현재 구현 현황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6817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코드베이스 기준 진척도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749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114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차별화 포인트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1389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경쟁사 대비 우위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321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5686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GTM 전략 / KPI / 로드맵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5961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실행 계획과 지표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01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내·외국인을 동시에 잇는 다국어 지역 관광 예약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858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A37"/>
                </a:solidFill>
                <a:latin typeface="Pretendard"/>
              </a:rPr>
              <a:t>관광 수요의 60% 이상이</a:t>
            </a:r>
          </a:p>
          <a:p>
            <a:pPr algn="l"/>
            <a:r>
              <a:rPr sz="2400" b="1">
                <a:solidFill>
                  <a:srgbClr val="1F2A37"/>
                </a:solidFill>
                <a:latin typeface="Pretendard"/>
              </a:rPr>
              <a:t>서울·제주에 몰린다 — 나머지를 키운다.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Pretendard"/>
              </a:rPr>
              <a:t>my-travel은 한국인 국내여행자와 방한 외국인이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Pretendard"/>
              </a:rPr>
              <a:t>같은 사이트에서 자기 언어로 지역 관광 상품을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Pretendard"/>
              </a:rPr>
              <a:t>검색·예약·후기까지 처리하는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Pretendard"/>
              </a:rPr>
              <a:t>내·외국인 통합 B2B2C 마켓플레이스입니다.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463040"/>
            <a:ext cx="1325880" cy="1645920"/>
          </a:xfrm>
          <a:prstGeom prst="roundRect">
            <a:avLst>
              <a:gd name="adj" fmla="val 8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78308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4-Sided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33172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관광객 · 사업자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가이드 · 관리자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63040"/>
            <a:ext cx="1325880" cy="164592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78308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 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3172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한국어 · 영어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중국어 · 일본어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1463040"/>
            <a:ext cx="1325880" cy="1645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178308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3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33172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당일 · 숙박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단일 체험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383280"/>
            <a:ext cx="4023360" cy="2286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ONE-LINER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886200"/>
            <a:ext cx="3657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내국인과 외국인이 자기 언어로 검색하고,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지역 사업자가 직접 등록·운영하며,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가이드가 현장에서 QR로 체크인하는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내·외국인 통합 로컬 투어 플랫폼.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01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02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관광객 · 사업자 · 지역경제 — 세 축의 손실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관광 집중화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내·외국인 관광 수요가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서울·제주에 과도하게 집중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17720"/>
            <a:ext cx="3108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→ 지역의 우수 상품도 발견되지 못한 채 사장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173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정보 접근성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089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내국인은 흩어진 블로그·카톡으로 예약,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외국인은 한국어 장벽으로 접근 불가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617720"/>
            <a:ext cx="3108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800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→ 내·외국인 통합 다국어 채널 부재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373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사업자 도구 부재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089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내국인 + 외국인 동시에 다루는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다국어 예약·운영 도구가 없음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4617720"/>
            <a:ext cx="3108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800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→ 내국 채널 / 외국 채널 이중 운영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5F7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WHY NOW · 국내여행 수요 정착 + 방한 외국인 회복 + 지역균형발전 정책 — 세 흐름이 동시에 열린 시점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02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03 시장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방한 관광 회복과 지역 분산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MARKET DRIVERS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01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국내여행 정착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48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주말·생활권 단거리 여행 수요 안정화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방한 외국인 회복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175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K-컬처 · 면세 · 비자 완화 트렌드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38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로컬 체험 수요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내·외국인 모두 '진짜 로컬'로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074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89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지역균형발전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54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지자체·관광공사 지역 콘텐츠 투자 확대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37160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TAM · SAM · SOM (가정)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233172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Pretendard"/>
              </a:rPr>
              <a:t>TAM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80" y="2880360"/>
            <a:ext cx="2560320" cy="2560320"/>
          </a:xfrm>
          <a:prstGeom prst="roundRect">
            <a:avLst>
              <a:gd name="adj" fmla="val 50000"/>
            </a:avLst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4023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Pretendard"/>
              </a:rPr>
              <a:t>SAM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383280"/>
            <a:ext cx="1554480" cy="155448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023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SOM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486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초기 SOM = 국내 2030 + 영어/일/중화권 FIT 외국인 + 지역 체험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03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04 솔루션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탐색 → 예약 → 운영 → 후기까지 한 자리에서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33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916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탐색·발견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다국어 검색 / 지역·테마 필터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실시간 재고·평점 노출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23774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3F5C"/>
                </a:solidFill>
                <a:latin typeface="Pretendard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417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11880" y="16459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6733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916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예약·확정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37744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자동확정 · 승인필요 분기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날짜/인원/옵션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3774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3F5C"/>
                </a:solidFill>
                <a:latin typeface="Pretendard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17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16459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733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6916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운영·체크인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7744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QR 체크인 / 일정 캘린더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가이드-사업자 실시간 알림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23774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3F5C"/>
                </a:solidFill>
                <a:latin typeface="Pretendard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1417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16459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16733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16916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후기·재방문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37744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별점·사진 후기 / 위시리스트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사업자 답변 + 신고/관리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023360"/>
            <a:ext cx="11064240" cy="2331720"/>
          </a:xfrm>
          <a:prstGeom prst="roundRect">
            <a:avLst>
              <a:gd name="adj" fmla="val 8000"/>
            </a:avLst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160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PLATFORM PROMISES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17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내·외국 동시 운영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98348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한국어 1급 + 영·중·일 — 한 사이트 · 한 운영팀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617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실시간 재고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98348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날짜별 잔여 수량 / 자동확정·승인 분기 라우팅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617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노쇼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98348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누적 노쇼 카운트 / 임계치 이상 예약 제한 / 관리자 해제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4617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역할별 UX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98348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관광객/사업자/가이드/관리자 4개 대시보드 분리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04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05 타깃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4-Sided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09728" cy="233172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관광객 (Traveler)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내국인 국내여행자 + 방한 외국인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다국어 상품 검색·예약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0720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위시리스트 / 후기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9125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마이페이지·예약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09728" cy="23317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제공자 (Vendor)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지역 관광·체험 사업자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상품 등록(다국어)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0720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캘린더 일정·재고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9125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예약 승인 / 메시지 대응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109728" cy="2331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1148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가이드 (Guide)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현장 진행 로컬 가이드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377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배정 일정 캘린더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2180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QR 체크인 / 시작·종료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70585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노쇼 보고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319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931920"/>
            <a:ext cx="109728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1148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관리자 (Admin)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플랫폼 운영팀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사용자/상품/예약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2180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신고·노쇼 처리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70585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통계 대시보드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05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06 비즈니스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수익 구조와 단가 가정 (v1: 결제 외부 처리)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REVENUE STREAMS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커미션 (Commission)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확정 예약당 거래액의 8~15%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96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성과형 · 사업자 진입장벽 낮춤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108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272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443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상품 노출 광고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91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추천·기획전·검색 상단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478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월 정액 / 입찰형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4160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1788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995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프리미엄 사업자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343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다국어 자동번역, 정산 대시보드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994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월 구독 (Tier)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5212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230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0474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부가서비스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94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사진 촬영, 카피라이팅, 가이드 매칭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50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건당 또는 패키지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371600"/>
            <a:ext cx="52120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08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UNIT ECONOMICS · 가정 (Year 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1965960"/>
            <a:ext cx="4754880" cy="4206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0391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평균 객단가 (AOV)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0391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₩ 80,000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2423160"/>
            <a:ext cx="47548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2496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커미션율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4963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10%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2880360"/>
            <a:ext cx="4754880" cy="4206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2953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건당 매출 (Take rate)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953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₩ 8,000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3337560"/>
            <a:ext cx="47548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3410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월 예약 건수 목표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410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1,500건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3794760"/>
            <a:ext cx="4754880" cy="4206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3867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월 GMV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8679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₩ 120,000,000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4251960"/>
            <a:ext cx="47548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43251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월 플랫폼 매출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3251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₩ 12,000,000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4709160"/>
            <a:ext cx="4754880" cy="4206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4782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Active Vendors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7823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150 ~ 250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5166360"/>
            <a:ext cx="47548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5239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MAU (관광객)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5239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63F5C"/>
                </a:solidFill>
                <a:latin typeface="Pretendard"/>
              </a:rPr>
              <a:t>30,000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59436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※ v1은 현장결제 / 외부결제 — 정산 risk 분리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06 Business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07 제품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Laravel 12 + Vue 3 Islands · 다국어 라우팅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09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Laravel 12 / PHP 8.2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37160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55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Blade + Vue 3 + Pinia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755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Tailwind v4 + Vite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37160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DB / 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755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MySQL 8 + Redis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37160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755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Sanctum (stateful) + Socialite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4231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Presentation · Blade Layouts + Vue 3 Islands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834640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9260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Traveler Web (/{locale})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834640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9260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Vendor Dashboard (/vendor)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834640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9260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Guide Console (/guide)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2834640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9260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Admin (/admin)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Pretendard"/>
              </a:rP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Application · Routes (web.php / api.php) + Services + Policies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160520"/>
            <a:ext cx="2121408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25196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Auth/RBAC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4160520"/>
            <a:ext cx="2121408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425196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Product/Translation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74920" y="4160520"/>
            <a:ext cx="2121408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25196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Booking/Schedule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4160520"/>
            <a:ext cx="2121408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425196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Review/Message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4160520"/>
            <a:ext cx="2121408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425196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2A37"/>
                </a:solidFill>
                <a:latin typeface="Pretendard"/>
              </a:rPr>
              <a:t>Notification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Pretendard"/>
              </a:rPr>
              <a:t>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184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Data · MySQL 8 (Eloquent + *_translations) · Redis · S3 (planned)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486400"/>
            <a:ext cx="2121408" cy="365760"/>
          </a:xfrm>
          <a:prstGeom prst="roundRect">
            <a:avLst>
              <a:gd name="adj" fmla="val 8000"/>
            </a:avLst>
          </a:prstGeom>
          <a:solidFill>
            <a:srgbClr val="B8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53212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users / roles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26080" y="5486400"/>
            <a:ext cx="2121408" cy="365760"/>
          </a:xfrm>
          <a:prstGeom prst="roundRect">
            <a:avLst>
              <a:gd name="adj" fmla="val 8000"/>
            </a:avLst>
          </a:prstGeom>
          <a:solidFill>
            <a:srgbClr val="B8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26080" y="553212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products + translations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4920" y="5486400"/>
            <a:ext cx="2121408" cy="365760"/>
          </a:xfrm>
          <a:prstGeom prst="roundRect">
            <a:avLst>
              <a:gd name="adj" fmla="val 8000"/>
            </a:avLst>
          </a:prstGeom>
          <a:solidFill>
            <a:srgbClr val="B8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74920" y="553212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bookings + schedules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23760" y="5486400"/>
            <a:ext cx="2121408" cy="365760"/>
          </a:xfrm>
          <a:prstGeom prst="roundRect">
            <a:avLst>
              <a:gd name="adj" fmla="val 8000"/>
            </a:avLst>
          </a:prstGeom>
          <a:solidFill>
            <a:srgbClr val="B8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553212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reviews / messages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72600" y="5486400"/>
            <a:ext cx="2121408" cy="365760"/>
          </a:xfrm>
          <a:prstGeom prst="roundRect">
            <a:avLst>
              <a:gd name="adj" fmla="val 8000"/>
            </a:avLst>
          </a:prstGeom>
          <a:solidFill>
            <a:srgbClr val="B8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553212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notifications / reports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07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08 현재 구현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코드베이스 기준 v1 진척도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Pretendard"/>
              </a:rPr>
              <a:t>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Pretendard"/>
              </a:rPr>
              <a:t>진척도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Pretendard"/>
              </a:rPr>
              <a:t>비고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인증 / RBAC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92808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92808"/>
            <a:ext cx="3127248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83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이메일·소셜 로그인, 4개 역할, user.active 미들웨어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219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상품 관리 (다국어)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31720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331720"/>
            <a:ext cx="2953512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2219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2219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Product+Translation, 카테고리, 지역, 이미지/가격/스케줄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609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예약 시스템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770632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770632"/>
            <a:ext cx="2953512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6609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66090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자동확정/승인필요, 취소, 노쇼 카운트, 가이드 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0998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리뷰 / 메시지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09544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209544"/>
            <a:ext cx="2779776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0998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09981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별점·사진 후기, 사업자 답변, 예약별 메시지 스레드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538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Vendor 콘솔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648456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648456"/>
            <a:ext cx="2606040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5387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75%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5387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상품 CRUD, 일정·재고, 예약 승인, 리뷰 응답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Guide 콘솔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087368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4087368"/>
            <a:ext cx="2258568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3977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Pretendard"/>
              </a:rPr>
              <a:t>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9776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캘린더 일정, QR 체크인, 시작·종료·노쇼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416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Admin 콘솔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526280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4526280"/>
            <a:ext cx="2432304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44165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4165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사용자/상품/예약/신고/노쇼/지역/카테고리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554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블로그 / 콘텐츠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965192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4965192"/>
            <a:ext cx="2432304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48554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70%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85546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포스트·카테고리·시리즈·태그·댓글·좋아요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결제 / 정산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5404104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52943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Pretendard"/>
              </a:rPr>
              <a:t>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52943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v1 제외 — v2 도입 예정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7332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푸시 / 알림톡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5843016"/>
            <a:ext cx="34747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97680" y="5843016"/>
            <a:ext cx="1042416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57332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Pretendard"/>
              </a:rPr>
              <a:t>30%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73328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이메일 알림 골격, 카카오 알림톡 미구현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62636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373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v1 코어 70%↑ 완성 — 내국인 우선 오픈 가능, 외국인 확장은 v2에서 가속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08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09 차별화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왜 my-travel인가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DIFFERENTIATOR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Pretendard"/>
              </a:rPr>
              <a:t>내·외국 통합 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내국인용·외국인용 분리 운영이 아닌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한 운영팀이 한 데이터셋으로 동시 노출.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6459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7099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63F5C"/>
                </a:solidFill>
                <a:latin typeface="Pretendard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DIFFERENTIATOR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Pretendard"/>
              </a:rPr>
              <a:t>다국어 '직접 입력'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기계 번역이 아닌 사업자가 4개 언어 직접 작성.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*_translations 분리 스키마로 언어별 품질·SEO 확보.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35640" y="16459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5640" y="17099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63F5C"/>
                </a:solidFill>
                <a:latin typeface="Pretendard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605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DIFFERENTIATOR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Pretendard"/>
              </a:rPr>
              <a:t>현장 운영 우선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064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QR 체크인, 노쇼 자동 누적·제한, 예약별 메시지 스레드.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OTA가 아닌 '운영툴'로 시작 → vendor lock-in.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41605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2245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63F5C"/>
                </a:solidFill>
                <a:latin typeface="Pretendar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9319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605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DIFFERENTIATOR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05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Pretendard"/>
              </a:rPr>
              <a:t>지역 큐레이션 가능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2064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Region/Category 정규화 + 다국어 + 기획전 슬롯.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관광공사·지자체 협업 기획전이 1급 객체로 가능.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35640" y="41605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5640" y="42245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63F5C"/>
                </a:solidFill>
                <a:latin typeface="Pretendar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09 Differentiation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09+ 경쟁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글로벌 OTA · 국내 액티비티 vs my-travel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974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Klook · KKday</a:t>
            </a:r>
          </a:p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(외국인 OTA)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외국인 트래픽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다국어 결제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내국인 시장 약함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지역 사업자 진입장벽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63040"/>
            <a:ext cx="26974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37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야놀자 · 마이리얼트립</a:t>
            </a:r>
          </a:p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(내국인 OTA)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4612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내국인 인지도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결제·정산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480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WEAKNESSES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800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외국인·다국어 약함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해외 마케팅 한계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463040"/>
            <a:ext cx="26974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737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Airbnb Experiences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STRENGTHS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글로벌 브랜드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UGC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WEAKNESSES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한국 지역 카테고리 얕음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현장 운영툴 약함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1463040"/>
            <a:ext cx="2697480" cy="4754880"/>
          </a:xfrm>
          <a:prstGeom prst="roundRect">
            <a:avLst>
              <a:gd name="adj" fmla="val 8000"/>
            </a:avLst>
          </a:prstGeom>
          <a:solidFill>
            <a:srgbClr val="E63F5C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737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my-travel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STRENGTHS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4612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내·외국인 동시 운영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다국어 직접입력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현장 운영툴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480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WEAKNESSES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800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신규 진입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양면 수요 집행 필요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09+ Competition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10 GTM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공급-수요 양면 시장 진입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6858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8640" cy="1554480"/>
          </a:xfrm>
          <a:prstGeom prst="roundRect">
            <a:avLst>
              <a:gd name="adj" fmla="val 5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Phase 1 · 공급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0~3개월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부산·제주·강원 3개 지역 선정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지자체·관광공사 협업 시범 사업자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온보딩·다국어 작성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6858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548640" cy="1554480"/>
          </a:xfrm>
          <a:prstGeom prst="roundRect">
            <a:avLst>
              <a:gd name="adj" fmla="val 5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Phase 2 · 내국인 우선 수요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3~6개월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국내 2030 SNS·블로그 마케팅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주말 단거리 여행 키워드 SEO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지자체 기획전·공모 콜라보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6858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800600"/>
            <a:ext cx="548640" cy="1554480"/>
          </a:xfrm>
          <a:prstGeom prst="roundRect">
            <a:avLst>
              <a:gd name="adj" fmla="val 5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Phase 3 · 외국인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6~12개월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983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KTO·공항·호텔 컨시어지 채널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349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Reddit·Xiaohongshu 외국인 KOL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715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 결제·정산·알림톡 v2 출시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1417320"/>
            <a:ext cx="3931920" cy="49377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ACQUISITION CHANNELS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965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2011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국내 SNS·블로그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내국인 2030 — 인스타·네이버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2807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28529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8072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KTO·지자체 협력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1729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공식 채널 노출·기획전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36484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36941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6484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호텔·게스트하우스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01421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체크인 시 QR·할인 코드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44897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45354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48970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SEO (다국어)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8554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지역+체험 longtail 키워드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5330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53766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330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외국인 커뮤니티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696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Reddit / Xiaohongshu / KOL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10 GTM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10+ KPI · 핵심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PRD success criteria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109728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월 방문자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63F5C"/>
                </a:solidFill>
                <a:latin typeface="Pretendard"/>
              </a:rPr>
              <a:t>10,000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Google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37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가입 전환율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945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Pretendard"/>
              </a:rPr>
              <a:t>≥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46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방문자 → 회원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737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예약 전환율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Pretendard"/>
              </a:rPr>
              <a:t>≥ 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46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방문자 → 예약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109728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737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예약 완료율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63F5C"/>
                </a:solidFill>
                <a:latin typeface="Pretendard"/>
              </a:rPr>
              <a:t>≥ 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46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완료 / 전체 예약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269748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노쇼율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63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Pretendard"/>
              </a:rPr>
              <a:t>≤ 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15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노쇼 / 확정 예약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388620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3886200"/>
            <a:ext cx="269748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리뷰 작성율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663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Pretendard"/>
              </a:rPr>
              <a:t>≥ 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715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리뷰 / 완료 예약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88620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886200"/>
            <a:ext cx="26974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평균 평점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663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Pretendard"/>
              </a:rPr>
              <a:t>≥ 4.0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715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전체 리뷰 평균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388620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3886200"/>
            <a:ext cx="2697480" cy="109728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Pretendard"/>
              </a:rPr>
              <a:t>Active Vendors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663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63F5C"/>
                </a:solidFill>
                <a:latin typeface="Pretendard"/>
              </a:rPr>
              <a:t>150+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715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활성 사업자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10+ KPI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10++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v1 출시 → v2 결제·정산 → v3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974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697480" cy="59436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v1.0 ·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Q1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관광객/사업자/가이드/관리자 4 콘솔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다국어 상품 · 예약 · 리뷰 ·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한국어 메인 + 영어, 현장결제 운영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63040"/>
            <a:ext cx="26974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63040"/>
            <a:ext cx="2697480" cy="5943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5544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v1.5 · 내국인 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8C42"/>
                </a:solidFill>
                <a:latin typeface="Pretendard"/>
              </a:rPr>
              <a:t>Q2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국내 결제(토스·카카오페이) 도입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5661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카카오 알림톡 / 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지역 기획전 슬롯 / 큐레이션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463040"/>
            <a:ext cx="26974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63040"/>
            <a:ext cx="269748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5544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v2.0 · 외국인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Pretendard"/>
              </a:rPr>
              <a:t>Q3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해외 카드·PayPal 결제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5661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환불 자동화 / 정산 대시보드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중국어·일본어 정식 오픈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1463040"/>
            <a:ext cx="26974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1463040"/>
            <a:ext cx="269748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5544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v3.0 · 확장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Pretendard"/>
              </a:rPr>
              <a:t>Q4 2026~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AI 추천 / 동적 가격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661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모바일 앱 (관광객·가이드)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•  보험·교통·숙박 외부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10++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리스크 &amp;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PRD 식별 위험 + 운영 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Pretendard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Pretendard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Pretendard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노쇼 증가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901952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9202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높음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노쇼 누적 카운트 + 임계치 자동 제한 + 관리자 해제 흐름 구현 완료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다국어 품질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587752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중간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060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사업자 직접 입력 + 네이티브 검수 인력 / 자동번역은 v2에서 보조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사업자 이탈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273552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2918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높음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918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운영툴(캘린더·체크인·메시지) 우선 → vendor lock-in 효과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6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77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트래픽 급증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959352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9776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중간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9776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Redis 캐시 + S3/CDN(예정) + 수평 확장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부적절한 리뷰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4645152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6634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중간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634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신고 시스템 + 관리자 검토 + 신고 다발 사용자 자동 플래그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3492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결제·환불 분쟁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5330952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53492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높음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3492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v1 현장결제로 risk 분리, v2 PG 도입 시 환불 정책 자동화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Risks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Pretendard"/>
              </a:rPr>
              <a:t>ASK · 다음 12개월에 필요한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팀 / 자본 / 파트너십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365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retendard"/>
              </a:rPr>
              <a:t>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64008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23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23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풀스택 1 (Laravel/Vue)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906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63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운영·CS 다국어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BD 1 (사업자 온보딩)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70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디자이너 0.5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4173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1417320"/>
            <a:ext cx="3657600" cy="64008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554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자본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423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450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423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12개월 운영비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0632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0906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063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초기 마케팅 예산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3703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인프라(AWS S3·CDN·CloudFront)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43434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370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PG 연동 (v2)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14173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1417320"/>
            <a:ext cx="3657600" cy="64008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파트너십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2423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450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2423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KTO / 지역 관광공사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30632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0906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3063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주요 도시 지자체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703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공항·호텔 컨시어지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43434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4370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해외 OTA 어필리에이트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v1 코어 70%↑ 완성. 다음 12개월은 '공급 100 → 300 + 수요 1만 MAU' 양면 시장 점화 단계.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Pretendard"/>
              </a:rPr>
              <a:t>my-travel · 사업방향서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Pretendard"/>
              </a:rPr>
              <a:t>Ask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858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Pretendard"/>
              </a:rPr>
              <a:t>내국인도, 외국인도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Pretendard"/>
              </a:rPr>
              <a:t>같은 한국을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858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1D5DB"/>
                </a:solidFill>
                <a:latin typeface="Pretendard"/>
              </a:rPr>
              <a:t>한국의 모든 지역과 모든 여행자를</a:t>
            </a:r>
          </a:p>
          <a:p>
            <a:pPr algn="l"/>
            <a:r>
              <a:rPr sz="1600" b="0">
                <a:solidFill>
                  <a:srgbClr val="D1D5DB"/>
                </a:solidFill>
                <a:latin typeface="Pretendard"/>
              </a:rPr>
              <a:t>다국어로 연결하는 단 하나의 운영툴 ·</a:t>
            </a:r>
          </a:p>
          <a:p>
            <a:pPr algn="l"/>
            <a:r>
              <a:rPr sz="1600" b="0">
                <a:solidFill>
                  <a:srgbClr val="D1D5DB"/>
                </a:solidFill>
                <a:latin typeface="Pretendard"/>
              </a:rPr>
              <a:t>my-travel.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F5C"/>
                </a:solidFill>
                <a:latin typeface="Pretendard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9144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BY 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31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ECDD3"/>
                </a:solidFill>
                <a:latin typeface="Pretendard"/>
              </a:rPr>
              <a:t>사용자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060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474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ECDD3"/>
                </a:solidFill>
                <a:latin typeface="Pretendard"/>
              </a:rPr>
              <a:t>지원 언어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7490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617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ECDD3"/>
                </a:solidFill>
                <a:latin typeface="Pretendard"/>
              </a:rPr>
              <a:t>상품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8920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retendard"/>
              </a:rPr>
              <a:t>70%+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5760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ECDD3"/>
                </a:solidFill>
                <a:latin typeface="Pretendard"/>
              </a:rPr>
              <a:t>v1 진척도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