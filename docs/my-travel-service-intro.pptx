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303520"/>
            <a:ext cx="2011680" cy="201168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4754880"/>
            <a:ext cx="1097280" cy="109728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640080"/>
            <a:ext cx="457200" cy="45720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13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777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my-travel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SERVICE INTRODUCTION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3F5C"/>
                </a:solidFill>
                <a:latin typeface="Pretendard"/>
              </a:rPr>
              <a:t>HELLO, KOREA · 안녕, 한국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Pretendard"/>
              </a:rPr>
              <a:t>한국을 여행하는 모두를 위한</a:t>
            </a:r>
          </a:p>
          <a:p>
            <a:pPr algn="l"/>
            <a:r>
              <a:rPr sz="4000" b="1">
                <a:solidFill>
                  <a:srgbClr val="1F2A37"/>
                </a:solidFill>
                <a:latin typeface="Pretendard"/>
              </a:rPr>
              <a:t>지역 관광 예약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Pretendard"/>
              </a:rPr>
              <a:t>내국인도, 외국인도 — 같은 사이트에서</a:t>
            </a:r>
          </a:p>
          <a:p>
            <a:pPr algn="l"/>
            <a:r>
              <a:rPr sz="1600" b="0">
                <a:solidFill>
                  <a:srgbClr val="6B7280"/>
                </a:solidFill>
                <a:latin typeface="Pretendard"/>
              </a:rPr>
              <a:t>서울 너머 한국 구석구석을 경험하세요.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5879592"/>
            <a:ext cx="219456" cy="219456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2531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KO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9070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Pretendard"/>
              </a:rPr>
              <a:t>한국어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57607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58568" y="5879592"/>
            <a:ext cx="219456" cy="219456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592531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9070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Pretendard"/>
              </a:rPr>
              <a:t>English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57607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75888" y="5879592"/>
            <a:ext cx="219456" cy="219456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5888" y="592531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59070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Pretendard"/>
              </a:rPr>
              <a:t>中文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57607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93208" y="5879592"/>
            <a:ext cx="219456" cy="219456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592531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59070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Pretendard"/>
              </a:rPr>
              <a:t>日本語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이 자료에서 다루는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562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서비스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214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my-travel은 어떤 서비스인가요?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562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왜 만들었나요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214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어떤 문제를 풀고 싶었는지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134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누구를 위한 서비스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78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관광객 · 사업자 · 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134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핵심 가치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5786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다국어 · 실시간 · 로컬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706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관광객 사용법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0358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검색 → 예약 → 후기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7706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사업자 사용법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358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등록 → 일정 → 예약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2278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가이드 사용법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4930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일정 → QR 체크인 →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278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상품 라인업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4930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투어 · 액티비티 · 체험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6850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비즈니스 모델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9502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어떻게 운영되는가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657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F5C"/>
                </a:solidFill>
                <a:latin typeface="Pretendard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6850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Pretendard"/>
              </a:rPr>
              <a:t>왜 my-travel인가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95020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다른 곳과 무엇이 다른가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01 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my-travel은 어떤 서비스인가요?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029200" cy="429768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103120"/>
            <a:ext cx="24688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2286000"/>
            <a:ext cx="2194560" cy="36576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3591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Pretendard"/>
              </a:rPr>
              <a:t>어디로 떠나시나요?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78892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2880360"/>
            <a:ext cx="731520" cy="4572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8986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F2A37"/>
                </a:solidFill>
                <a:latin typeface="Pretendard"/>
              </a:rPr>
              <a:t>서울 야경 투어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1546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Pretendard"/>
              </a:rPr>
              <a:t>★ 4.9 · 12,000원~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374904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3840480"/>
            <a:ext cx="731520" cy="4572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858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F2A37"/>
                </a:solidFill>
                <a:latin typeface="Pretendard"/>
              </a:rPr>
              <a:t>제주 한라산 트레킹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114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Pretendard"/>
              </a:rPr>
              <a:t>★ 4.9 · 12,000원~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470916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0" y="4800600"/>
            <a:ext cx="731520" cy="4572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4818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F2A37"/>
                </a:solidFill>
                <a:latin typeface="Pretendard"/>
              </a:rPr>
              <a:t>부산 미식 투어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074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Pretendard"/>
              </a:rPr>
              <a:t>★ 4.9 · 12,000원~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ONE-LINE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194560"/>
            <a:ext cx="5943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37"/>
                </a:solidFill>
                <a:latin typeface="Pretendard"/>
              </a:rPr>
              <a:t>내국인과 외국인이</a:t>
            </a:r>
          </a:p>
          <a:p>
            <a:pPr algn="l"/>
            <a:r>
              <a:rPr sz="2200" b="1">
                <a:solidFill>
                  <a:srgbClr val="1F2A37"/>
                </a:solidFill>
                <a:latin typeface="Pretendard"/>
              </a:rPr>
              <a:t>같은 사이트, 자기 언어로</a:t>
            </a:r>
          </a:p>
          <a:p>
            <a:pPr algn="l"/>
            <a:r>
              <a:rPr sz="2200" b="1">
                <a:solidFill>
                  <a:srgbClr val="1F2A37"/>
                </a:solidFill>
                <a:latin typeface="Pretendard"/>
              </a:rPr>
              <a:t>한국 지역 관광을 예약하는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11480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서울·제주 패키지 일변도를 넘어,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부산·강원·경주·전주 등 전국의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로컬 사업자가 운영하는 진짜 한국 경험을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내·외국인 모두에게 한 자리에서.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01 About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02 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왜 my-travel을 만들었나요?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63F5C"/>
                </a:solidFill>
                <a:latin typeface="Pretendard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03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37"/>
                </a:solidFill>
                <a:latin typeface="Pretendard"/>
              </a:rPr>
              <a:t>내국인도 외국인도 — 한국을 더 깊게 보고 싶지만,</a:t>
            </a:r>
          </a:p>
          <a:p>
            <a:pPr algn="l"/>
            <a:r>
              <a:rPr sz="2200" b="1">
                <a:solidFill>
                  <a:srgbClr val="1F2A37"/>
                </a:solidFill>
                <a:latin typeface="Pretendard"/>
              </a:rPr>
              <a:t>로컬 경험은 여전히 흩어져 있고 찾기 어렵습니다.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337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retendard"/>
              </a:rPr>
              <a:t>— 우리는 이 거리를 좁히고 싶습니다.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988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관광객에게는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Pretendard"/>
              </a:rPr>
              <a:t>발견의 기쁨을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내국인·외국인 모두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언어 장벽 없이 로컬 발견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2062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0" y="448056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526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4988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사업자에게는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74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Pretendard"/>
              </a:rPr>
              <a:t>새로운 고객을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6235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내국인 + 외국인을 동시에 만나는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다국어 디지털 창구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062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0" y="44805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526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49884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지역에게는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074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Pretendard"/>
              </a:rPr>
              <a:t>관광의 분산을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6235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서울·제주 집중 관광 수익이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전국으로 흘러가도록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02 Why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03  FOR WHOM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누구를 위한 서비스인가요?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57400" y="2194560"/>
            <a:ext cx="640080" cy="64008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3317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Pretendard"/>
              </a:rPr>
              <a:t>관광객</a:t>
            </a:r>
          </a:p>
          <a:p>
            <a:pPr algn="ctr"/>
            <a:r>
              <a:rPr sz="1500" b="1">
                <a:solidFill>
                  <a:srgbClr val="1F2A37"/>
                </a:solidFill>
                <a:latin typeface="Pretendard"/>
              </a:rPr>
              <a:t>Traveler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내국인 + 방한 외국인 여행자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주말·휴가 국내여행을 찾는 한국인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서울 밖을 가보고 싶은 외국인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자기 언어로 안심 예약하고 싶은 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65760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1828800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6440" y="219456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3317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Pretendard"/>
              </a:rPr>
              <a:t>사업자</a:t>
            </a:r>
          </a:p>
          <a:p>
            <a:pPr algn="ctr"/>
            <a:r>
              <a:rPr sz="1500" b="1">
                <a:solidFill>
                  <a:srgbClr val="1F2A37"/>
                </a:solidFill>
                <a:latin typeface="Pretendard"/>
              </a:rPr>
              <a:t>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Pretendard"/>
              </a:rPr>
              <a:t>지역에서 관광/체험을 운영하는 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내국인 + 외국인 모두 만나고 싶은 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예약·일정 관리를 디지털화하고 싶은 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66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카카오톡 수기 관리에서 벗어나고 싶은 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828800"/>
            <a:ext cx="365760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1828800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1945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3317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</a:rP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Pretendard"/>
              </a:rPr>
              <a:t>로컬 가이드</a:t>
            </a:r>
          </a:p>
          <a:p>
            <a:pPr algn="ctr"/>
            <a:r>
              <a:rPr sz="1500" b="1">
                <a:solidFill>
                  <a:srgbClr val="1F2A37"/>
                </a:solidFill>
                <a:latin typeface="Pretendard"/>
              </a:rPr>
              <a:t>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현장에서 투어를 진행하는 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배정 일정을 캘린더로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63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QR 체크인으로 빠르게 출석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166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• 노쇼·특이사항 바로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03 For Whom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04  CORE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이 서비스가 약속하는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97480" cy="425196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63F5C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ALL-IN-ONE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내·외국인 동시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한국어가 1급 시민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+ 외국어 동시 운영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한 사이트 / 한 운영팀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03520"/>
            <a:ext cx="21488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4132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3F5C"/>
                </a:solidFill>
                <a:latin typeface="Pretendard"/>
              </a:rPr>
              <a:t>한 · 영 · 중 ·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97480" cy="42519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3B82F6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Pretendard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실시간 재고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날짜별 잔여 수량을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바로 확인하고 예약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늦었다 / 매진 걱정 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5303520"/>
            <a:ext cx="21488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54132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Pretendard"/>
              </a:rPr>
              <a:t>DAY-BY-DAY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828800"/>
            <a:ext cx="2697480" cy="42519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0B981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Pretendard"/>
              </a:rPr>
              <a:t>AUTHENTIC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로컬 우선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여행사 대행이 아니라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현지에서 직접 운영하는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진짜 로컬 사업자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3520"/>
            <a:ext cx="21488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4132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Pretendard"/>
              </a:rPr>
              <a:t>BY LOCAL HOSTS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1828800"/>
            <a:ext cx="2697480" cy="4251960"/>
          </a:xfrm>
          <a:prstGeom prst="roundRect">
            <a:avLst>
              <a:gd name="adj" fmla="val 10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0574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8B5CF6"/>
                </a:solidFill>
                <a:latin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Pretendard"/>
              </a:rPr>
              <a:t>ON-SITE CARE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현장 안심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8862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QR 체크인 · 메시지 · 노쇼 관리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예약부터 종료까지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전 과정을 책임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303520"/>
            <a:ext cx="21488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54132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Pretendard"/>
              </a:rPr>
              <a:t>END-TO-END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04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05  TRAVELER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관광객은 이렇게 사용합니다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148840" cy="329184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560320"/>
            <a:ext cx="594360" cy="59436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700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E63F5C"/>
                </a:solidFill>
                <a:latin typeface="Pretendard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783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지역 · 날짜 · 인원으로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원하는 체험 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286000"/>
            <a:ext cx="2148840" cy="32918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560320"/>
            <a:ext cx="594360" cy="59436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6700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375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8C42"/>
                </a:solidFill>
                <a:latin typeface="Pretendard"/>
              </a:rPr>
              <a:t>BROWSE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576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343400"/>
            <a:ext cx="1783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사진 · 후기 · 가격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포함사항까지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286000"/>
            <a:ext cx="2148840" cy="32918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560320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6700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375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Pretendard"/>
              </a:rPr>
              <a:t>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6576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예약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343400"/>
            <a:ext cx="1783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옵션 선택 후 예약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즉시확정 또는 승인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286000"/>
            <a:ext cx="2148840" cy="32918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9560" y="25603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26700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375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retendard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6576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체험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343400"/>
            <a:ext cx="1783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현장에서 QR로 체크인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가이드와 함께 출발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286000"/>
            <a:ext cx="2148840" cy="3291840"/>
          </a:xfrm>
          <a:prstGeom prst="roundRect">
            <a:avLst>
              <a:gd name="adj" fmla="val 10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04120" y="256032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26700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3375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8B5CF6"/>
                </a:solidFill>
                <a:latin typeface="Pretendard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6576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공유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4343400"/>
            <a:ext cx="1783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별점 · 사진 후기로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다음 여행자에게 추천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63F5C"/>
                </a:solidFill>
                <a:latin typeface="Pretendard"/>
              </a:rPr>
              <a:t>전 과정을 모국어로 · 모바일 한 화면에서 완결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05 Traveler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06  VENDOR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사업자는 이렇게 운영합니다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08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37160" cy="10515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상품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사진 · 가격 · 옵션 · 다국어 설명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자동확정 또는 승인필요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90088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0088"/>
            <a:ext cx="13716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31012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558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272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일정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9300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캘린더에서 날짜별 수량 설정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특정 날짜 운영 중단 가능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51376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3716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47141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1713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885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예약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54296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신청 도착 시 알림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승인 / 거절 / 메시지 전송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12664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312664"/>
            <a:ext cx="137160" cy="1051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563270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7842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44982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후기 응답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815584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고객 리뷰 확인 및 답변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부적절 후기 신고 처리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1828800"/>
            <a:ext cx="4846320" cy="443484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Pretendard"/>
              </a:rPr>
              <a:t>WHAT YOU 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3317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Pretendard"/>
              </a:rPr>
              <a:t>사업자에게 제공되는 것</a:t>
            </a:r>
          </a:p>
        </p:txBody>
      </p:sp>
      <p:sp>
        <p:nvSpPr>
          <p:cNvPr id="34" name="Oval 33"/>
          <p:cNvSpPr/>
          <p:nvPr/>
        </p:nvSpPr>
        <p:spPr>
          <a:xfrm>
            <a:off x="6949440" y="3429000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447288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410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내국인 + 외국인 고객 동시 접점</a:t>
            </a:r>
          </a:p>
        </p:txBody>
      </p:sp>
      <p:sp>
        <p:nvSpPr>
          <p:cNvPr id="37" name="Oval 36"/>
          <p:cNvSpPr/>
          <p:nvPr/>
        </p:nvSpPr>
        <p:spPr>
          <a:xfrm>
            <a:off x="6949440" y="3813048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3831336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794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한·영·중·일 4개 언어 상품 노출</a:t>
            </a:r>
          </a:p>
        </p:txBody>
      </p:sp>
      <p:sp>
        <p:nvSpPr>
          <p:cNvPr id="40" name="Oval 39"/>
          <p:cNvSpPr/>
          <p:nvPr/>
        </p:nvSpPr>
        <p:spPr>
          <a:xfrm>
            <a:off x="6949440" y="4197096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4215384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41788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실시간 캘린더 · 재고 관리</a:t>
            </a:r>
          </a:p>
        </p:txBody>
      </p:sp>
      <p:sp>
        <p:nvSpPr>
          <p:cNvPr id="43" name="Oval 42"/>
          <p:cNvSpPr/>
          <p:nvPr/>
        </p:nvSpPr>
        <p:spPr>
          <a:xfrm>
            <a:off x="6949440" y="4581144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4599432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56285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QR 기반 현장 체크인 도구</a:t>
            </a:r>
          </a:p>
        </p:txBody>
      </p:sp>
      <p:sp>
        <p:nvSpPr>
          <p:cNvPr id="46" name="Oval 45"/>
          <p:cNvSpPr/>
          <p:nvPr/>
        </p:nvSpPr>
        <p:spPr>
          <a:xfrm>
            <a:off x="6949440" y="4965192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4983480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94690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예약별 메시지 스레드</a:t>
            </a:r>
          </a:p>
        </p:txBody>
      </p:sp>
      <p:sp>
        <p:nvSpPr>
          <p:cNvPr id="49" name="Oval 48"/>
          <p:cNvSpPr/>
          <p:nvPr/>
        </p:nvSpPr>
        <p:spPr>
          <a:xfrm>
            <a:off x="6949440" y="5349240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367528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3309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노쇼 자동 카운트 · 예약 제한</a:t>
            </a:r>
          </a:p>
        </p:txBody>
      </p:sp>
      <p:sp>
        <p:nvSpPr>
          <p:cNvPr id="52" name="Oval 51"/>
          <p:cNvSpPr/>
          <p:nvPr/>
        </p:nvSpPr>
        <p:spPr>
          <a:xfrm>
            <a:off x="6949440" y="5733288"/>
            <a:ext cx="201168" cy="201168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5751576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5715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Pretendard"/>
              </a:rPr>
              <a:t>리뷰 응답 / 관리자 분쟁 중재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06 Vendor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07  GUIDE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가이드는 이렇게 진행합니다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09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400800" cy="443484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retendard"/>
              </a:rPr>
              <a:t>GUIDE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Pretendard"/>
              </a:rPr>
              <a:t>투어 당일의 표준 플로우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640080" cy="5943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아침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retendard"/>
              </a:rP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오늘 배정 투어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캘린더에서 일정 · 고객 명단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40"/>
            <a:ext cx="640080" cy="5943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집결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retendard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고객 QR 체크인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QR 스캔으로 참석자 출석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640080" cy="5943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retendard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투어 시작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시작 버튼으로 상태 업데이트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32120"/>
            <a:ext cx="640080" cy="5943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retendard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투어 완료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852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완료 / 노쇼 / 특이사항 메모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1828800"/>
            <a:ext cx="4480560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QR CHECK-IN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331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스캔 한 번으로 출석 완료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315468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4290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34290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34290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4290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36118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20" y="36118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36118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7947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21040" y="37947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69680" y="37947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37947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37947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2104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1832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39776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8160" y="41605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01200" y="41605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86800" y="43434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69680" y="43434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52560" y="43434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18320" y="434340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45262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45262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03920" y="45262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86800" y="45262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69680" y="45262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52560" y="452628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47091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03920" y="47091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69680" y="47091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35440" y="470916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38160" y="48920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03920" y="48920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86800" y="48920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35440" y="489204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21040" y="50749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03920" y="50749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35440" y="50749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601200" y="50749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84080" y="5074920"/>
            <a:ext cx="182880" cy="1828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38160" y="342900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3429000"/>
            <a:ext cx="365760" cy="3657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93024" y="3483864"/>
            <a:ext cx="256031" cy="2560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47888" y="3538728"/>
            <a:ext cx="146304" cy="146304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01200" y="342900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01200" y="3429000"/>
            <a:ext cx="365760" cy="3657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656064" y="3483864"/>
            <a:ext cx="256031" cy="2560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10928" y="3538728"/>
            <a:ext cx="146304" cy="146304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138160" y="489204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38160" y="4892040"/>
            <a:ext cx="365760" cy="3657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193024" y="4946904"/>
            <a:ext cx="256031" cy="2560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247888" y="5001768"/>
            <a:ext cx="146304" cy="146304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0" y="5760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고객의 예약 확인 화면을 스캔하면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Pretendard"/>
              </a:rPr>
              <a:t>자동으로 체크인 + 시작 처리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07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08  PRODUCT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어떤 상품을 만날 수 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37160" cy="182880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One-Day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당일 코스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하루 안에 끝나는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패키지형 투어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3F5C"/>
                </a:solidFill>
                <a:latin typeface="Pretendard"/>
              </a:rPr>
              <a:t>예) 서울 야경 + 남산 + 한강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137160" cy="1828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Pretendard"/>
              </a:rPr>
              <a:t>Multi-Day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숙박 패키지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34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1박 이상의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체류형 상품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Pretendard"/>
              </a:rPr>
              <a:t>예) 제주 2박 3일 힐링 스테이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137160" cy="1828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Pretendard"/>
              </a:rPr>
              <a:t>Single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단일 체험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34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짧고 캐주얼한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원포인트 체험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291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Pretendard"/>
              </a:rPr>
              <a:t>예) 한복 체험 · 쿠킹 클래스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카테고리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63F5C"/>
                </a:solidFill>
                <a:latin typeface="Pretendard"/>
              </a:rPr>
              <a:t>투어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8C42"/>
                </a:solidFill>
                <a:latin typeface="Pretendard"/>
              </a:rPr>
              <a:t>액티비티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문화체험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Pretendard"/>
              </a:rPr>
              <a:t>식도락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Pretendard"/>
              </a:rPr>
              <a:t>자연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Pretendard"/>
              </a:rPr>
              <a:t>야간투어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Pretendard"/>
              </a:rPr>
              <a:t>티켓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8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82C46"/>
                </a:solidFill>
                <a:latin typeface="Pretendard"/>
              </a:rPr>
              <a:t>패키지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0233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Pretendard"/>
              </a:rPr>
              <a:t>지역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서울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부산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제주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461772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47274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경기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강원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524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경주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전주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04120" y="5257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04120" y="536752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Pretendard"/>
              </a:rPr>
              <a:t>기타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08 Lineup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09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어떻게 운영되나요?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11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MARKETPLACE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관광객 ↔ 사업자를 연결하는 양면 시장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3F5C"/>
                </a:solidFill>
                <a:latin typeface="Pretendard"/>
              </a:rPr>
              <a:t>TRAVELER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관광객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77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9CA3AF"/>
                </a:solidFill>
                <a:latin typeface="Pretendard"/>
              </a:rPr>
              <a:t>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47472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749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Pretendard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my-travel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977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9CA3AF"/>
                </a:solidFill>
                <a:latin typeface="Pretendard"/>
              </a:rPr>
              <a:t>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474720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9525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3749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8C42"/>
                </a:solidFill>
                <a:latin typeface="Pretendard"/>
              </a:rPr>
              <a:t>VENDOR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69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A37"/>
                </a:solidFill>
                <a:latin typeface="Pretendard"/>
              </a:rPr>
              <a:t>사업자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예약이 확정되면 → 거래액의 일부가 my-travel의 운영 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v1은 현장 결제 / v2부터 온라인 결제 도입 예정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828800"/>
            <a:ext cx="3657600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REVENUE STREAMS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수익 구조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461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3429000"/>
            <a:ext cx="320040" cy="32004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49300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커미션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931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확정 예약의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8~15%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32461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0" y="34290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349300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노출 광고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931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추천·기획전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상단 노출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66344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66760" y="48463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910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846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프리미엄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349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월 구독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부가기능 제공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466344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0" y="48463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0" y="4910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4846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Pretendard"/>
              </a:rPr>
              <a:t>부가서비스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5349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촬영·번역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패키지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09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10  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다른 서비스와 무엇이 다른가요?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6400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  <a:latin typeface="Pretendard"/>
              </a:rPr>
              <a:t>일반 OTA / 여행사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82880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93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my-travel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✕ 내국인용·외국인용 사이트 분리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606040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2C46"/>
                </a:solidFill>
                <a:latin typeface="Pretendard"/>
              </a:rPr>
              <a:t>✓ 내·외국인 한 사이트 동시 운영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64992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9359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✕ 기계 번역 / 한국어만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364992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59359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2C46"/>
                </a:solidFill>
                <a:latin typeface="Pretendard"/>
              </a:rPr>
              <a:t>✓ 사업자 직접 4개 언어 작성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23944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5254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✕ 대형 패키지 중심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123944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35254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2C46"/>
                </a:solidFill>
                <a:latin typeface="Pretendard"/>
              </a:rPr>
              <a:t>✓ 지역 로컬 사업자 중심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2896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1149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✕ 수기 예약 / 카톡 문의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882896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11149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2C46"/>
                </a:solidFill>
                <a:latin typeface="Pretendard"/>
              </a:rPr>
              <a:t>✓ 실시간 캘린더 + 메시지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41848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7044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✕ 노쇼 시 손실 일방 부담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5641848"/>
            <a:ext cx="5532120" cy="713232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87044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2C46"/>
                </a:solidFill>
                <a:latin typeface="Pretendard"/>
              </a:rPr>
              <a:t>✓ 노쇼 자동 카운트 + 제한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10 Why 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11 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안정적인 기술 위에 만들었습니다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97280" cy="320040"/>
          </a:xfrm>
          <a:prstGeom prst="roundRect">
            <a:avLst>
              <a:gd name="adj" fmla="val 4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검증된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Laravel 12 + Vue 3 + MySQL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전 세계 수만 서비스가 사용 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103120"/>
            <a:ext cx="1097280" cy="32004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57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빠른 응답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Redis 캐시 + 페이지 &lt; 3초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API &lt; 500ms 목표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2103120"/>
            <a:ext cx="1097280" cy="32004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57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SECURE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안전한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Sanctum · OAuth (Google/Kakao/Apple)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CSRF · bcrypt · HTTPS 필수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89120"/>
            <a:ext cx="1097280" cy="32004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43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SCALABLE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확장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S3/CDN · 수평 확장 설계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트래픽 증가에 대응 가능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114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4389120"/>
            <a:ext cx="1097280" cy="320040"/>
          </a:xfrm>
          <a:prstGeom prst="roundRect">
            <a:avLst>
              <a:gd name="adj" fmla="val 40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443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MULTI-LANG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다국어 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492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*_translations 분리 스키마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언어별 검색 최적화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114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21040" y="4389120"/>
            <a:ext cx="1097280" cy="320040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443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OPS-READY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운영 도구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492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관리자 통계 · 신고 · 노쇼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분쟁 중재 흐름 내장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11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12  MULTI-LANGUAGE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한 사이트, 네 가지 언어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743200" cy="443484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194560"/>
            <a:ext cx="822960" cy="82296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KO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A37"/>
                </a:solidFill>
                <a:latin typeface="Pretendard"/>
              </a:rPr>
              <a:t>한국어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Korean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4160520"/>
            <a:ext cx="731520" cy="952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Pretendard"/>
              </a:rPr>
              <a:t>전국 구석구석을 더 가까이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6235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3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715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63F5C"/>
                </a:solidFill>
                <a:latin typeface="Pretendard"/>
              </a:rPr>
              <a:t>활성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828800"/>
            <a:ext cx="2743200" cy="44348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3400" y="219456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331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A37"/>
                </a:solidFill>
                <a:latin typeface="Pretendard"/>
              </a:rPr>
              <a:t>English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033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English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160520"/>
            <a:ext cx="731520" cy="95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4348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Pretendard"/>
              </a:rPr>
              <a:t>Discover Korea, beyond Seoul.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56235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5715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Pretendard"/>
              </a:rPr>
              <a:t>활성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828800"/>
            <a:ext cx="2743200" cy="44348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94560"/>
            <a:ext cx="822960" cy="82296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331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A37"/>
                </a:solidFill>
                <a:latin typeface="Pretendard"/>
              </a:rPr>
              <a:t>中文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7033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Chinese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4160520"/>
            <a:ext cx="731520" cy="9525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Pretendard"/>
              </a:rPr>
              <a:t>发现首尔之外的韩国魅力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6235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715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Pretendard"/>
              </a:rPr>
              <a:t>준비중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1828800"/>
            <a:ext cx="2743200" cy="4434840"/>
          </a:xfrm>
          <a:prstGeom prst="roundRect">
            <a:avLst>
              <a:gd name="adj" fmla="val 10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12680" y="219456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2331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A37"/>
                </a:solidFill>
                <a:latin typeface="Pretendard"/>
              </a:rPr>
              <a:t>日本語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7033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Pretendard"/>
              </a:rPr>
              <a:t>Japanese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4160520"/>
            <a:ext cx="731520" cy="95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44348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Pretendard"/>
              </a:rPr>
              <a:t>ソウルを越えた韓国の魅力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56235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5715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Pretendard"/>
              </a:rPr>
              <a:t>준비중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12 Languages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13  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안심하고 쓸 수 있도록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신원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사업자 등록 정보 · 관리자 승인을 거친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사업자만 상품을 등록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실시간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54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예약별 메시지 스레드로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문의·변동사항을 즉시 공유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2103120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리뷰 신고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54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부적절한 후기는 신고 후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관리자가 검토하여 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EAE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98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노쇼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누적 노쇼 시 예약 제한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사업자도 동일한 정책으로 보호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114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4389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498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관리자 중재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분쟁 발생 시 관리자가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중립적으로 예약·환불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114800"/>
            <a:ext cx="3657600" cy="214884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40" y="438912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498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Pretendard"/>
              </a:rPr>
              <a:t>개인정보 보호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HTTPS · bcrypt · CSRF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Pretendard"/>
              </a:rPr>
              <a:t>표준 보안 수칙 모두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13 Safety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3F5C"/>
                </a:solidFill>
                <a:latin typeface="Pretendard"/>
              </a:rPr>
              <a:t>14 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Pretendard"/>
              </a:rPr>
              <a:t>앞으로 이렇게 발전합니다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Pretendard"/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28575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9748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v1 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관광객/사업자/가이드/관리자 4 콘솔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다국어 · 예약 · 리뷰 ·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37490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3F5C"/>
                </a:solidFill>
                <a:latin typeface="Pretendard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011680"/>
            <a:ext cx="269748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286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SOON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운영 강화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65760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카카오 알림톡 · 지역 기획전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다국어 작성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37490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3F5C"/>
                </a:solidFill>
                <a:latin typeface="Pretendard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269748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결제 · 정산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카드 · 해외결제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환불 자동화 · 정산 대시보드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37490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3F5C"/>
                </a:solidFill>
                <a:latin typeface="Pretendard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011680"/>
            <a:ext cx="269748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89720" y="2286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Pretendard"/>
              </a:rPr>
              <a:t>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65760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AI 추천 · 모바일 앱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Pretendard"/>
              </a:rPr>
              <a:t>외부 연동(보험·교통·숙박)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63F5C"/>
                </a:solidFill>
                <a:latin typeface="Pretendard"/>
              </a:rPr>
              <a:t>지금은 시작 · 1년 안에 결제까지 · 그 다음은 한국을 넘어 동아시아로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my-travel · Service Introduction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14 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B8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-914400"/>
            <a:ext cx="3200400" cy="320040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my-travel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ECDD3"/>
                </a:solidFill>
                <a:latin typeface="Pretendard"/>
              </a:rPr>
              <a:t>JOIN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함께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한국을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다시 그립니다.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E4E6"/>
                </a:solidFill>
                <a:latin typeface="Pretendard"/>
              </a:rPr>
              <a:t>Hello, my-travel.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731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F5C"/>
                </a:solidFill>
                <a:latin typeface="Pretendard"/>
              </a:rPr>
              <a:t>TRY IT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Pretendard"/>
              </a:rPr>
              <a:t>지금 시작하세요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137160" cy="1097280"/>
          </a:xfrm>
          <a:prstGeom prst="rect">
            <a:avLst/>
          </a:prstGeom>
          <a:solidFill>
            <a:srgbClr val="E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63F5C"/>
                </a:solidFill>
                <a:latin typeface="Pretendard"/>
              </a:rPr>
              <a:t>FOR TRAVELER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관광객으로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내국인·외국인 모두 회원가입 후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원하는 지역의 상품을 검색해보세요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0332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703320"/>
            <a:ext cx="137160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Pretendard"/>
              </a:rPr>
              <a:t>FOR 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사업자로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사업자 등록 후 첫 상품을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등록해보세요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93776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937760"/>
            <a:ext cx="137160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Pretendard"/>
              </a:rPr>
              <a:t>FOR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49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Pretendard"/>
              </a:rPr>
              <a:t>가이드로 합류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지역 운영팀에게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Pretendard"/>
              </a:rPr>
              <a:t>가이드 신청을 보내주세요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263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Thank you.  ·  Made with ♥ in Korea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